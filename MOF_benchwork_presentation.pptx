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9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Relationship Id="rId13" Type="http://schemas.openxmlformats.org/officeDocument/2006/relationships/slide" Target="slides/slide13.xml"/>
<Relationship Id="rId14" Type="http://schemas.openxmlformats.org/officeDocument/2006/relationships/slide" Target="slides/slide14.xml"/>
<Relationship Id="rId15" Type="http://schemas.openxmlformats.org/officeDocument/2006/relationships/slide" Target="slides/slide15.xml"/>
<Relationship Id="rId16" Type="http://schemas.openxmlformats.org/officeDocument/2006/relationships/slide" Target="slides/slide16.xml"/>
<Relationship Id="rId17" Type="http://schemas.openxmlformats.org/officeDocument/2006/relationships/slide" Target="slides/slide17.xml"/>
<Relationship Id="rId18" Type="http://schemas.openxmlformats.org/officeDocument/2006/relationships/slide" Target="slides/slide18.xml"/>
<Relationship Id="rId19" Type="http://schemas.openxmlformats.org/officeDocument/2006/relationships/slideMaster" Target="slideMasters/slideMaster1.xml"/>
<Relationship Id="rId20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Accent"/>
          <p:cNvSpPr/>
          <p:nvPr/>
        </p:nvSpPr>
        <p:spPr>
          <a:xfrm>
            <a:off x="0" y="6020000"/>
            <a:ext cx="12192000" cy="83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62000" y="1676400"/>
            <a:ext cx="10668000" cy="12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</a:rPr>
              <a:t>MOF Benchwork: From Benchmark Planning to LAMMPS-Ready Inputs</a:t>
            </a:r>
            <a:endParaRPr lang="en-US" sz="4400"/>
          </a:p>
        </p:txBody>
      </p:sp>
      <p:sp>
        <p:nvSpPr>
          <p:cNvPr id="5" name="Body"/>
          <p:cNvSpPr txBox="1"/>
          <p:nvPr/>
        </p:nvSpPr>
        <p:spPr>
          <a:xfrm>
            <a:off x="762000" y="3124200"/>
            <a:ext cx="9000000" cy="12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2200" b="0">
                <a:solidFill>
                  <a:srgbClr val="ECFEFF"/>
                </a:solidFill>
              </a:rPr>
              <a:t>A reproducible pipeline for MOF adsorption benchmarks</a:t>
            </a:r>
            <a:endParaRPr lang="en-US" sz="2200"/>
          </a:p>
          <a:p>
            <a:pPr marL="228600" indent="-171450">
              <a:buChar char="•"/>
            </a:pPr>
            <a:r>
              <a:rPr lang="en-US" sz="2200" b="0">
                <a:solidFill>
                  <a:srgbClr val="ECFEFF"/>
                </a:solidFill>
              </a:rPr>
              <a:t>From CRAFTED data to validated LAMMPS input artifacts</a:t>
            </a:r>
            <a:endParaRPr lang="en-US" sz="2200"/>
          </a:p>
        </p:txBody>
      </p:sp>
      <p:sp>
        <p:nvSpPr>
          <p:cNvPr id="6" name="Footer"/>
          <p:cNvSpPr txBox="1"/>
          <p:nvPr/>
        </p:nvSpPr>
        <p:spPr>
          <a:xfrm>
            <a:off x="762000" y="6150000"/>
            <a:ext cx="8000000" cy="4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200" b="0">
                <a:solidFill>
                  <a:srgbClr val="CCFBF1"/>
                </a:solidFill>
              </a:rPr>
              <a:t>MOF Benchwork | Module A preparation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Project Goal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Build a reproducible benchmark workflow for MOF adsorption simulations.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Focus on Module A first: single-gas CO2 adsorption in MOF-5 / IRMOF-1.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Use CRAFTED data as the source for: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CIF framework structures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force field parameters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adsorbate molecule definitions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reference isotherm data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Start with validated input generation before running full GCMC simulations.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2/18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Current Architecture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benchmark.py acts as the central pipeline orchestrator.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It does not run simulations directly.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It builds a reproducible run plan from benchmark.json.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Main pipeline steps: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load configuration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normalize defaults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resolve material and force field data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select benchmark module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3/18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Benchmark Configuration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benchmark.json follows a structured schema: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material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adsorbates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conditions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benchmark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simulation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output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Missing values are filled with sensible defaults.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4/18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Material and Data Resolution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Implemented MaterialResolver.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Supports aliases such as: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MOF-5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IRMOF-1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Resolves the correct CIF path from CRAFTED.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Charge scheme selection is currently handled during material resolution.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charge_resolver.py is intentionally not implemented yet, because separate charge logic is not needed at this stage.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5/18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Force Field Resolution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Implemented ForcefieldResolver.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Resolves required UFF files from CRAFTED: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force_field.def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force_field_mixing_rules.def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pseudo_atoms.def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CO2.def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N2.def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Missing adsorbate definitions produce clear errors.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6/18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CIF to LAMMPS Data Conversion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Implemented converter/cif_to_lammps_data.py.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ASE is used to read geometry and cell vectors.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CIF charges are parsed manually from _atom_site_charge.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This is necessary because ASE does not automatically preserve the CRAFTED charge column.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Output: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framework-only LAMMPS .data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Masses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Atoms # full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7/18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Restricted Triclinic Box Support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2050" b="0">
                <a:solidFill>
                  <a:srgbClr val="1F2937"/>
                </a:solidFill>
              </a:rPr>
              <a:t/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IRMOF-1 is converted into LAMMPS restricted triclinic form.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The converter computes: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lx, ly, lz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xy, xz, yz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Fractional CIF coordinates are transformed into LAMMPS-compatible Cartesian coordinates.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LAMMPS can successfully read the generated structure with read_data.</a:t>
            </a:r>
            <a:endParaRPr lang="en-US" sz="205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8/18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Molecule Template Conversion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Implemented converter/molecule_to_lammps_template.py.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Parses CRAFTED / RASPA molecule definition files.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Currently supports rigid linear molecules such as: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CO2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N2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Generates LAMMPS molecule templates with: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coordinates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atom types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9/18</a:t>
            </a:r>
            <a:endParaRPr lang="en-US"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Force Field to LAMMPS Conversion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Implemented converter/forcefield_to_lammps.py.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Parses: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pseudo atom masses and charges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Lennard-Jones parameters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Lorentz-Berthelot mixing rule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Builds global atom type assignments: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framework atoms: Zn, H, C, O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CO2 atoms: O_co2, C_co2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10/18</a:t>
            </a:r>
            <a:endParaRPr lang="en-U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Unit Conversion and Mixing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2050" b="0">
                <a:solidFill>
                  <a:srgbClr val="1F2937"/>
                </a:solidFill>
              </a:rPr>
              <a:t/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CRAFTED stores Lennard-Jones epsilon in Kelvin.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LAMMPS units real expects epsilon in kcal/mol.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Conversion: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CODE: epsilon_kcal_mol = epsilon_K * 0.0019872041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Lorentz-Berthelot mixing: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CODE: sigma_ij = (sigma_i + sigma_j) / 2 | epsilon_ij = sqrt(epsilon_i * epsilon_j)</a:t>
            </a:r>
            <a:endParaRPr lang="en-US" sz="205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11/18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Generated LAMMPS Artifacts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The current workflow can generate: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IRMOF-1.data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framework atoms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framework charges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extra CO2 atom types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bond type capacity for molecule templates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CO2.template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CO2 geometry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12/18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LAMMPS Smoke Test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A LAMMPS run 0 smoke test was added.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It verifies that LAMMPS can read: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generated .data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generated CO2 molecule template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generated force field include file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Example input: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CODE: units real | atom_style full | boundary p p p | read_data IRMOF-1.data extra/special/per/atom 2 | molecule co2 CO2.template | include forcefield.in | run 0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13/18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Why extra/special/per/atom 2 Is Needed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2050" b="0">
                <a:solidFill>
                  <a:srgbClr val="1F2937"/>
                </a:solidFill>
              </a:rPr>
              <a:t/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The framework .data file initially contains no CO2 molecules.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CO2 is loaded later through a molecule template.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The CO2 template contains bonds.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LAMMPS needs reserved memory for special bonded neighbors.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extra/special/per/atom 2 provides enough capacity for bonded CO2 molecules.</a:t>
            </a:r>
            <a:endParaRPr lang="en-US" sz="205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14/18</a:t>
            </a:r>
            <a:endParaRPr 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Testing Status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Implemented unit and smoke tests in test_benchmark.py.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Current coverage includes: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configuration loading and defaults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material alias resolution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module selection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CRAFTED molecule parsing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CIF charge parsing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restricted triclinic .data generation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15/18</a:t>
            </a:r>
            <a:endParaRPr lang="en-US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Development Environment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800" b="0">
                <a:solidFill>
                  <a:srgbClr val="1F2937"/>
                </a:solidFill>
              </a:rPr>
              <a:t/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Conda environment: MOF_sim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Installed and tested: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ASE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LAMMPS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OVITO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LAMMPS version supports: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fix gcmc</a:t>
            </a:r>
            <a:endParaRPr lang="en-US" sz="1800"/>
          </a:p>
          <a:p>
            <a:pPr marL="228600" indent="-171450">
              <a:buChar char="•"/>
            </a:pPr>
            <a:r>
              <a:rPr lang="en-US" sz="1800" b="0">
                <a:solidFill>
                  <a:srgbClr val="1F2937"/>
                </a:solidFill>
              </a:rPr>
              <a:t>fix widom</a:t>
            </a:r>
            <a:endParaRPr lang="en-US" sz="180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16/18</a:t>
            </a:r>
            <a:endParaRPr lang="en-U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What Has Been Achieved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2050" b="0">
                <a:solidFill>
                  <a:srgbClr val="1F2937"/>
                </a:solidFill>
              </a:rPr>
              <a:t/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The project now has a reproducible planning layer.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CRAFTED data can be resolved instead of hard-coded.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IRMOF-1 CIF data can be converted into LAMMPS .data.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CO2 molecule definitions can be converted into LAMMPS molecule templates.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UFF force field parameters can be converted into LAMMPS pair coefficients.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LAMMPS can successfully validate the generated input artifacts with run 0.</a:t>
            </a:r>
            <a:endParaRPr lang="en-US" sz="205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17/18</a:t>
            </a:r>
            <a:endParaRPr lang="en-US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2192000" cy="300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3" name="Title"/>
          <p:cNvSpPr txBox="1"/>
          <p:nvPr/>
        </p:nvSpPr>
        <p:spPr>
          <a:xfrm>
            <a:off x="685800" y="635000"/>
            <a:ext cx="10800000" cy="76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3400" b="1">
                <a:solidFill>
                  <a:srgbClr val="111827"/>
                </a:solidFill>
              </a:rPr>
              <a:t>Next Steps</a:t>
            </a:r>
            <a:endParaRPr lang="en-US" sz="3400"/>
          </a:p>
        </p:txBody>
      </p:sp>
      <p:sp>
        <p:nvSpPr>
          <p:cNvPr id="4" name="Body"/>
          <p:cNvSpPr txBox="1"/>
          <p:nvPr/>
        </p:nvSpPr>
        <p:spPr>
          <a:xfrm>
            <a:off x="915000" y="1650000"/>
            <a:ext cx="10300000" cy="41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2050" b="0">
                <a:solidFill>
                  <a:srgbClr val="1F2937"/>
                </a:solidFill>
              </a:rPr>
              <a:t/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Add a real --prepare mode to benchmark.py.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Materialize the prepare plan into output directories.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Generate complete Module A LAMMPS input scripts.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Run a very short one-pressure CO2 GCMC test.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Parse basic LAMMPS output.</a:t>
            </a:r>
            <a:endParaRPr lang="en-US" sz="2050"/>
          </a:p>
          <a:p>
            <a:pPr marL="228600" indent="-171450">
              <a:buChar char="•"/>
            </a:pPr>
            <a:r>
              <a:rPr lang="en-US" sz="2050" b="0">
                <a:solidFill>
                  <a:srgbClr val="1F2937"/>
                </a:solidFill>
              </a:rPr>
              <a:t>Only then scale to a full pressure grid and compare against reference isotherms.</a:t>
            </a:r>
            <a:endParaRPr lang="en-US" sz="2050"/>
          </a:p>
        </p:txBody>
      </p:sp>
      <p:sp>
        <p:nvSpPr>
          <p:cNvPr id="5" name="Footer"/>
          <p:cNvSpPr txBox="1"/>
          <p:nvPr/>
        </p:nvSpPr>
        <p:spPr>
          <a:xfrm>
            <a:off x="10600000" y="6240000"/>
            <a:ext cx="900000" cy="300000"/>
          </a:xfrm>
          <a:prstGeom prst="rect">
            <a:avLst/>
          </a:prstGeom>
          <a:noFill/>
        </p:spPr>
        <p:txBody>
          <a:bodyPr wrap="square"/>
          <a:lstStyle/>
          <a:p>
            <a:pPr marL="0" indent="0">
              <a:buNone/>
            </a:pPr>
            <a:r>
              <a:rPr lang="en-US" sz="1000" b="0">
                <a:solidFill>
                  <a:srgbClr val="64748B"/>
                </a:solidFill>
              </a:rPr>
              <a:t>18/18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F Benchwork">
  <a:themeElements>
    <a:clrScheme name="MOF">
      <a:dk1>
        <a:srgbClr val="1F2937"/>
      </a:dk1>
      <a:lt1>
        <a:srgbClr val="FFFFFF"/>
      </a:lt1>
      <a:dk2>
        <a:srgbClr val="0F766E"/>
      </a:dk2>
      <a:lt2>
        <a:srgbClr val="F8FAFC"/>
      </a:lt2>
      <a:accent1>
        <a:srgbClr val="0F766E"/>
      </a:accent1>
      <a:accent2>
        <a:srgbClr val="2563EB"/>
      </a:accent2>
      <a:accent3>
        <a:srgbClr val="7C3AED"/>
      </a:accent3>
      <a:accent4>
        <a:srgbClr val="EA580C"/>
      </a:accent4>
      <a:accent5>
        <a:srgbClr val="0891B2"/>
      </a:accent5>
      <a:accent6>
        <a:srgbClr val="4B5563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MOF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MOF Benchwork Presentation</dc:title>
  <dc:creator>Codex</dc:creator>
  <cp:lastModifiedBy>Codex</cp:lastModifiedBy>
</cp:coreProperties>
</file>